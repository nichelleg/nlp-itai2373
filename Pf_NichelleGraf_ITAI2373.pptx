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E8EC"/>
    <a:srgbClr val="D1FAF1"/>
    <a:srgbClr val="13405A"/>
    <a:srgbClr val="028090"/>
    <a:srgbClr val="02C39A"/>
    <a:srgbClr val="009999"/>
    <a:srgbClr val="307FA2"/>
    <a:srgbClr val="CCF3EB"/>
    <a:srgbClr val="054952"/>
    <a:srgbClr val="607D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529BBA-1E3D-49A0-92D5-E2D8F0EDD1D2}" v="90" dt="2026-05-05T07:56:50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0" autoAdjust="0"/>
    <p:restoredTop sz="91534" autoAdjust="0"/>
  </p:normalViewPr>
  <p:slideViewPr>
    <p:cSldViewPr snapToGrid="0" snapToObjects="1">
      <p:cViewPr varScale="1">
        <p:scale>
          <a:sx n="81" d="100"/>
          <a:sy n="81" d="100"/>
        </p:scale>
        <p:origin x="102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8507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06855" rtl="0" eaLnBrk="1" latinLnBrk="0" hangingPunct="1">
      <a:defRPr sz="1322" kern="1200">
        <a:solidFill>
          <a:schemeClr val="tx1"/>
        </a:solidFill>
        <a:latin typeface="+mn-lt"/>
        <a:ea typeface="+mn-ea"/>
        <a:cs typeface="+mn-cs"/>
      </a:defRPr>
    </a:lvl1pPr>
    <a:lvl2pPr marL="503428" algn="l" defTabSz="1006855" rtl="0" eaLnBrk="1" latinLnBrk="0" hangingPunct="1">
      <a:defRPr sz="1322" kern="1200">
        <a:solidFill>
          <a:schemeClr val="tx1"/>
        </a:solidFill>
        <a:latin typeface="+mn-lt"/>
        <a:ea typeface="+mn-ea"/>
        <a:cs typeface="+mn-cs"/>
      </a:defRPr>
    </a:lvl2pPr>
    <a:lvl3pPr marL="1006855" algn="l" defTabSz="1006855" rtl="0" eaLnBrk="1" latinLnBrk="0" hangingPunct="1">
      <a:defRPr sz="1322" kern="1200">
        <a:solidFill>
          <a:schemeClr val="tx1"/>
        </a:solidFill>
        <a:latin typeface="+mn-lt"/>
        <a:ea typeface="+mn-ea"/>
        <a:cs typeface="+mn-cs"/>
      </a:defRPr>
    </a:lvl3pPr>
    <a:lvl4pPr marL="1510283" algn="l" defTabSz="1006855" rtl="0" eaLnBrk="1" latinLnBrk="0" hangingPunct="1">
      <a:defRPr sz="1322" kern="1200">
        <a:solidFill>
          <a:schemeClr val="tx1"/>
        </a:solidFill>
        <a:latin typeface="+mn-lt"/>
        <a:ea typeface="+mn-ea"/>
        <a:cs typeface="+mn-cs"/>
      </a:defRPr>
    </a:lvl4pPr>
    <a:lvl5pPr marL="2013710" algn="l" defTabSz="1006855" rtl="0" eaLnBrk="1" latinLnBrk="0" hangingPunct="1">
      <a:defRPr sz="1322" kern="1200">
        <a:solidFill>
          <a:schemeClr val="tx1"/>
        </a:solidFill>
        <a:latin typeface="+mn-lt"/>
        <a:ea typeface="+mn-ea"/>
        <a:cs typeface="+mn-cs"/>
      </a:defRPr>
    </a:lvl5pPr>
    <a:lvl6pPr marL="2517138" algn="l" defTabSz="1006855" rtl="0" eaLnBrk="1" latinLnBrk="0" hangingPunct="1">
      <a:defRPr sz="1322" kern="1200">
        <a:solidFill>
          <a:schemeClr val="tx1"/>
        </a:solidFill>
        <a:latin typeface="+mn-lt"/>
        <a:ea typeface="+mn-ea"/>
        <a:cs typeface="+mn-cs"/>
      </a:defRPr>
    </a:lvl6pPr>
    <a:lvl7pPr marL="3020566" algn="l" defTabSz="1006855" rtl="0" eaLnBrk="1" latinLnBrk="0" hangingPunct="1">
      <a:defRPr sz="1322" kern="1200">
        <a:solidFill>
          <a:schemeClr val="tx1"/>
        </a:solidFill>
        <a:latin typeface="+mn-lt"/>
        <a:ea typeface="+mn-ea"/>
        <a:cs typeface="+mn-cs"/>
      </a:defRPr>
    </a:lvl7pPr>
    <a:lvl8pPr marL="3523994" algn="l" defTabSz="1006855" rtl="0" eaLnBrk="1" latinLnBrk="0" hangingPunct="1">
      <a:defRPr sz="1322" kern="1200">
        <a:solidFill>
          <a:schemeClr val="tx1"/>
        </a:solidFill>
        <a:latin typeface="+mn-lt"/>
        <a:ea typeface="+mn-ea"/>
        <a:cs typeface="+mn-cs"/>
      </a:defRPr>
    </a:lvl8pPr>
    <a:lvl9pPr marL="4027422" algn="l" defTabSz="1006855" rtl="0" eaLnBrk="1" latinLnBrk="0" hangingPunct="1">
      <a:defRPr sz="132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45974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8408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7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107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4643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0" b="1"/>
            </a:lvl3pPr>
            <a:lvl4pPr marL="1371633" indent="0">
              <a:buNone/>
              <a:defRPr sz="1600" b="1"/>
            </a:lvl4pPr>
            <a:lvl5pPr marL="1828844" indent="0">
              <a:buNone/>
              <a:defRPr sz="1600" b="1"/>
            </a:lvl5pPr>
            <a:lvl6pPr marL="2286055" indent="0">
              <a:buNone/>
              <a:defRPr sz="1600" b="1"/>
            </a:lvl6pPr>
            <a:lvl7pPr marL="2743266" indent="0">
              <a:buNone/>
              <a:defRPr sz="1600" b="1"/>
            </a:lvl7pPr>
            <a:lvl8pPr marL="3200476" indent="0">
              <a:buNone/>
              <a:defRPr sz="1600" b="1"/>
            </a:lvl8pPr>
            <a:lvl9pPr marL="365768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0" b="1"/>
            </a:lvl3pPr>
            <a:lvl4pPr marL="1371633" indent="0">
              <a:buNone/>
              <a:defRPr sz="1600" b="1"/>
            </a:lvl4pPr>
            <a:lvl5pPr marL="1828844" indent="0">
              <a:buNone/>
              <a:defRPr sz="1600" b="1"/>
            </a:lvl5pPr>
            <a:lvl6pPr marL="2286055" indent="0">
              <a:buNone/>
              <a:defRPr sz="1600" b="1"/>
            </a:lvl6pPr>
            <a:lvl7pPr marL="2743266" indent="0">
              <a:buNone/>
              <a:defRPr sz="1600" b="1"/>
            </a:lvl7pPr>
            <a:lvl8pPr marL="3200476" indent="0">
              <a:buNone/>
              <a:defRPr sz="1600" b="1"/>
            </a:lvl8pPr>
            <a:lvl9pPr marL="365768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63608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30758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8106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0"/>
            </a:lvl2pPr>
            <a:lvl3pPr marL="914422" indent="0">
              <a:buNone/>
              <a:defRPr sz="1200"/>
            </a:lvl3pPr>
            <a:lvl4pPr marL="1371633" indent="0">
              <a:buNone/>
              <a:defRPr sz="1000"/>
            </a:lvl4pPr>
            <a:lvl5pPr marL="1828844" indent="0">
              <a:buNone/>
              <a:defRPr sz="1000"/>
            </a:lvl5pPr>
            <a:lvl6pPr marL="2286055" indent="0">
              <a:buNone/>
              <a:defRPr sz="1000"/>
            </a:lvl6pPr>
            <a:lvl7pPr marL="2743266" indent="0">
              <a:buNone/>
              <a:defRPr sz="1000"/>
            </a:lvl7pPr>
            <a:lvl8pPr marL="3200476" indent="0">
              <a:buNone/>
              <a:defRPr sz="1000"/>
            </a:lvl8pPr>
            <a:lvl9pPr marL="365768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341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2" indent="0">
              <a:buNone/>
              <a:defRPr sz="2400"/>
            </a:lvl3pPr>
            <a:lvl4pPr marL="1371633" indent="0">
              <a:buNone/>
              <a:defRPr sz="2000"/>
            </a:lvl4pPr>
            <a:lvl5pPr marL="1828844" indent="0">
              <a:buNone/>
              <a:defRPr sz="2000"/>
            </a:lvl5pPr>
            <a:lvl6pPr marL="2286055" indent="0">
              <a:buNone/>
              <a:defRPr sz="2000"/>
            </a:lvl6pPr>
            <a:lvl7pPr marL="2743266" indent="0">
              <a:buNone/>
              <a:defRPr sz="2000"/>
            </a:lvl7pPr>
            <a:lvl8pPr marL="3200476" indent="0">
              <a:buNone/>
              <a:defRPr sz="2000"/>
            </a:lvl8pPr>
            <a:lvl9pPr marL="3657687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0"/>
            </a:lvl2pPr>
            <a:lvl3pPr marL="914422" indent="0">
              <a:buNone/>
              <a:defRPr sz="1200"/>
            </a:lvl3pPr>
            <a:lvl4pPr marL="1371633" indent="0">
              <a:buNone/>
              <a:defRPr sz="1000"/>
            </a:lvl4pPr>
            <a:lvl5pPr marL="1828844" indent="0">
              <a:buNone/>
              <a:defRPr sz="1000"/>
            </a:lvl5pPr>
            <a:lvl6pPr marL="2286055" indent="0">
              <a:buNone/>
              <a:defRPr sz="1000"/>
            </a:lvl6pPr>
            <a:lvl7pPr marL="2743266" indent="0">
              <a:buNone/>
              <a:defRPr sz="1000"/>
            </a:lvl7pPr>
            <a:lvl8pPr marL="3200476" indent="0">
              <a:buNone/>
              <a:defRPr sz="1000"/>
            </a:lvl8pPr>
            <a:lvl9pPr marL="365768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22935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77889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10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454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818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6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7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3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4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0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1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2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3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3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4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5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7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87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github.com/Nichelleg/AI-Portfolio-Nichelle-Graf" TargetMode="External"/><Relationship Id="rId4" Type="http://schemas.openxmlformats.org/officeDocument/2006/relationships/hyperlink" Target="https://ar.inspiredpencil.com/pictures-2023/github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chelleg/AI-Portfolio-Nichelle-Gra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hyperlink" Target="https://github.com/Nichelleg/AI-Portfolio-Nichelle-Graf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chelleg/AI-Portfolio-Nichelle-Gra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chelleg/AI-Portfolio-Nichelle-Gra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9185" y="0"/>
            <a:ext cx="199505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5" name="Text 3"/>
          <p:cNvSpPr/>
          <p:nvPr/>
        </p:nvSpPr>
        <p:spPr>
          <a:xfrm>
            <a:off x="1052946" y="1087582"/>
            <a:ext cx="9975273" cy="443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4" b="1" kern="0" spc="606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PORTFOLI</a:t>
            </a:r>
            <a:r>
              <a:rPr lang="en-US" sz="1333" b="1" kern="0" spc="606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333" dirty="0"/>
          </a:p>
        </p:txBody>
      </p:sp>
      <p:sp>
        <p:nvSpPr>
          <p:cNvPr id="6" name="Text 4"/>
          <p:cNvSpPr/>
          <p:nvPr/>
        </p:nvSpPr>
        <p:spPr>
          <a:xfrm>
            <a:off x="1052946" y="1530928"/>
            <a:ext cx="8866909" cy="9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303" b="1" dirty="0">
                <a:solidFill>
                  <a:srgbClr val="CCF3EB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Natural Language</a:t>
            </a:r>
            <a:endParaRPr lang="en-US" sz="6303" dirty="0">
              <a:solidFill>
                <a:srgbClr val="CCF3EB"/>
              </a:solidFill>
              <a:latin typeface="Josefin Sans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2946" y="2395451"/>
            <a:ext cx="8866909" cy="9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303" b="1" dirty="0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Processing</a:t>
            </a:r>
            <a:endParaRPr lang="en-US" sz="6303" dirty="0">
              <a:latin typeface="Josefin Sans" panose="000005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79706" y="3668275"/>
            <a:ext cx="5612190" cy="387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97" i="1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Focus: Bridging the gap between humans and machine</a:t>
            </a:r>
            <a:endParaRPr lang="en-US" sz="1697" dirty="0"/>
          </a:p>
        </p:txBody>
      </p:sp>
      <p:sp>
        <p:nvSpPr>
          <p:cNvPr id="9" name="Shape 7"/>
          <p:cNvSpPr/>
          <p:nvPr/>
        </p:nvSpPr>
        <p:spPr>
          <a:xfrm>
            <a:off x="1052946" y="3445921"/>
            <a:ext cx="4987637" cy="27709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10" name="Text 8"/>
          <p:cNvSpPr/>
          <p:nvPr/>
        </p:nvSpPr>
        <p:spPr>
          <a:xfrm>
            <a:off x="1052947" y="4699751"/>
            <a:ext cx="3200180" cy="1073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Artificial Intelligence &amp; Robotics</a:t>
            </a:r>
            <a:endParaRPr lang="en-US" sz="1400" dirty="0"/>
          </a:p>
          <a:p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City College</a:t>
            </a:r>
            <a:endParaRPr lang="en-US" sz="1400" dirty="0"/>
          </a:p>
          <a:p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2373 – NLP  |  Spring 2026</a:t>
            </a:r>
            <a:endParaRPr lang="en-US" sz="1400" dirty="0">
              <a:solidFill>
                <a:srgbClr val="607D8B"/>
              </a:solidFill>
            </a:endParaRPr>
          </a:p>
          <a:p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Anna Devarakonda</a:t>
            </a:r>
            <a:endParaRPr lang="en-US" sz="1400" dirty="0">
              <a:solidFill>
                <a:srgbClr val="607D8B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C4F8B7-115E-1F6E-7CA0-286C1421DEC7}"/>
              </a:ext>
            </a:extLst>
          </p:cNvPr>
          <p:cNvGrpSpPr/>
          <p:nvPr/>
        </p:nvGrpSpPr>
        <p:grpSpPr>
          <a:xfrm>
            <a:off x="10196581" y="4789096"/>
            <a:ext cx="928038" cy="914400"/>
            <a:chOff x="7366914" y="1827157"/>
            <a:chExt cx="1047017" cy="107899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388BBBF-9AF8-FC90-6F3E-77DD0A9B8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25816" r="24430"/>
            <a:stretch>
              <a:fillRect/>
            </a:stretch>
          </p:blipFill>
          <p:spPr>
            <a:xfrm>
              <a:off x="7366914" y="1827157"/>
              <a:ext cx="1047017" cy="1078992"/>
            </a:xfrm>
            <a:prstGeom prst="rect">
              <a:avLst/>
            </a:prstGeom>
            <a:ln>
              <a:solidFill>
                <a:srgbClr val="02809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</p:pic>
        <p:sp>
          <p:nvSpPr>
            <p:cNvPr id="19" name="Shape 2">
              <a:extLst>
                <a:ext uri="{FF2B5EF4-FFF2-40B4-BE49-F238E27FC236}">
                  <a16:creationId xmlns:a16="http://schemas.microsoft.com/office/drawing/2014/main" id="{C72D7FBD-C623-56B8-E1D2-151E909945ED}"/>
                </a:ext>
              </a:extLst>
            </p:cNvPr>
            <p:cNvSpPr/>
            <p:nvPr/>
          </p:nvSpPr>
          <p:spPr>
            <a:xfrm>
              <a:off x="7370544" y="1876692"/>
              <a:ext cx="1015085" cy="996924"/>
            </a:xfrm>
            <a:prstGeom prst="ellipse">
              <a:avLst/>
            </a:prstGeom>
            <a:solidFill>
              <a:srgbClr val="02C39A">
                <a:alpha val="20000"/>
              </a:srgbClr>
            </a:solidFill>
            <a:ln w="12700">
              <a:solidFill>
                <a:srgbClr val="028090"/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en-US" sz="2182"/>
            </a:p>
          </p:txBody>
        </p:sp>
      </p:grpSp>
      <p:sp>
        <p:nvSpPr>
          <p:cNvPr id="12" name="Text 10"/>
          <p:cNvSpPr/>
          <p:nvPr/>
        </p:nvSpPr>
        <p:spPr>
          <a:xfrm>
            <a:off x="4660509" y="5361447"/>
            <a:ext cx="5486400" cy="337188"/>
          </a:xfrm>
          <a:prstGeom prst="rect">
            <a:avLst/>
          </a:prstGeom>
          <a:solidFill>
            <a:srgbClr val="054952"/>
          </a:solidFill>
          <a:ln w="12700">
            <a:solidFill>
              <a:srgbClr val="02809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0" rtlCol="0" anchor="ctr"/>
          <a:lstStyle/>
          <a:p>
            <a:pPr algn="ctr"/>
            <a:r>
              <a:rPr lang="en-US" b="1" u="sng" dirty="0">
                <a:solidFill>
                  <a:srgbClr val="D1FAF1"/>
                </a:solidFill>
                <a:latin typeface="Josefin Sans Light" panose="00000400000000000000" pitchFamily="2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b="1" u="sng" dirty="0" err="1">
                <a:solidFill>
                  <a:srgbClr val="D1FAF1"/>
                </a:solidFill>
                <a:latin typeface="Josefin Sans Light" panose="00000400000000000000" pitchFamily="2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</a:t>
            </a:r>
            <a:r>
              <a:rPr lang="en-US" b="1" u="sng" dirty="0">
                <a:solidFill>
                  <a:srgbClr val="D1FAF1"/>
                </a:solidFill>
                <a:latin typeface="Josefin Sans Light" panose="00000400000000000000" pitchFamily="2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b="1" u="sng" dirty="0" err="1">
                <a:solidFill>
                  <a:srgbClr val="D1FAF1"/>
                </a:solidFill>
                <a:latin typeface="Josefin Sans Light" panose="00000400000000000000" pitchFamily="2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Nichelleg</a:t>
            </a:r>
            <a:r>
              <a:rPr lang="en-US" b="1" u="sng" dirty="0">
                <a:solidFill>
                  <a:srgbClr val="D1FAF1"/>
                </a:solidFill>
                <a:latin typeface="Josefin Sans Light" panose="00000400000000000000" pitchFamily="2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/AI-Portfolio-Nichelle-Graf</a:t>
            </a:r>
            <a:endParaRPr lang="en-US" dirty="0">
              <a:solidFill>
                <a:srgbClr val="D1FAF1"/>
              </a:solidFill>
              <a:latin typeface="Josefin Sans Light" panose="000004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EC285C-A41D-9EEE-B241-92CCBFAEBCEE}"/>
              </a:ext>
            </a:extLst>
          </p:cNvPr>
          <p:cNvSpPr txBox="1"/>
          <p:nvPr/>
        </p:nvSpPr>
        <p:spPr>
          <a:xfrm>
            <a:off x="960583" y="3616654"/>
            <a:ext cx="2074882" cy="428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82" dirty="0">
                <a:solidFill>
                  <a:srgbClr val="C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Nichelle Graf</a:t>
            </a:r>
            <a:endParaRPr lang="en-US" sz="2182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F4DD0CD-C4E7-D332-5EF1-D3BDDA269A50}"/>
              </a:ext>
            </a:extLst>
          </p:cNvPr>
          <p:cNvGrpSpPr/>
          <p:nvPr/>
        </p:nvGrpSpPr>
        <p:grpSpPr>
          <a:xfrm>
            <a:off x="9738688" y="-1075540"/>
            <a:ext cx="3879273" cy="3879273"/>
            <a:chOff x="7633793" y="436523"/>
            <a:chExt cx="3200400" cy="3200400"/>
          </a:xfrm>
        </p:grpSpPr>
        <p:sp>
          <p:nvSpPr>
            <p:cNvPr id="4" name="Shape 2"/>
            <p:cNvSpPr/>
            <p:nvPr/>
          </p:nvSpPr>
          <p:spPr>
            <a:xfrm>
              <a:off x="8162106" y="838875"/>
              <a:ext cx="2286000" cy="2286000"/>
            </a:xfrm>
            <a:prstGeom prst="ellipse">
              <a:avLst/>
            </a:prstGeom>
            <a:solidFill>
              <a:srgbClr val="02C39A">
                <a:alpha val="20000"/>
              </a:srgbClr>
            </a:solidFill>
            <a:ln w="12700">
              <a:solidFill>
                <a:srgbClr val="02C39A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US" sz="2182" dirty="0"/>
            </a:p>
          </p:txBody>
        </p:sp>
        <p:sp>
          <p:nvSpPr>
            <p:cNvPr id="3" name="Shape 1"/>
            <p:cNvSpPr>
              <a:spLocks/>
            </p:cNvSpPr>
            <p:nvPr/>
          </p:nvSpPr>
          <p:spPr>
            <a:xfrm>
              <a:off x="7633793" y="436523"/>
              <a:ext cx="3200400" cy="3200400"/>
            </a:xfrm>
            <a:prstGeom prst="ellipse">
              <a:avLst/>
            </a:prstGeom>
            <a:solidFill>
              <a:srgbClr val="028090">
                <a:alpha val="15000"/>
              </a:srgbClr>
            </a:solidFill>
            <a:ln w="12700">
              <a:solidFill>
                <a:srgbClr val="028090">
                  <a:alpha val="15000"/>
                </a:srgbClr>
              </a:solidFill>
              <a:prstDash val="solid"/>
            </a:ln>
          </p:spPr>
          <p:txBody>
            <a:bodyPr/>
            <a:lstStyle/>
            <a:p>
              <a:endParaRPr lang="en-US" sz="2182" dirty="0"/>
            </a:p>
          </p:txBody>
        </p:sp>
        <p:sp>
          <p:nvSpPr>
            <p:cNvPr id="27" name="Shape 1">
              <a:extLst>
                <a:ext uri="{FF2B5EF4-FFF2-40B4-BE49-F238E27FC236}">
                  <a16:creationId xmlns:a16="http://schemas.microsoft.com/office/drawing/2014/main" id="{95A00B36-B88D-8A25-73B1-5ABA4E54859F}"/>
                </a:ext>
              </a:extLst>
            </p:cNvPr>
            <p:cNvSpPr>
              <a:spLocks/>
            </p:cNvSpPr>
            <p:nvPr/>
          </p:nvSpPr>
          <p:spPr>
            <a:xfrm>
              <a:off x="8683616" y="1014622"/>
              <a:ext cx="1659636" cy="1659636"/>
            </a:xfrm>
            <a:prstGeom prst="ellipse">
              <a:avLst/>
            </a:prstGeom>
            <a:solidFill>
              <a:srgbClr val="02C39A">
                <a:alpha val="15000"/>
              </a:srgbClr>
            </a:solidFill>
            <a:ln w="3175">
              <a:solidFill>
                <a:srgbClr val="02C39A"/>
              </a:solidFill>
              <a:prstDash val="solid"/>
            </a:ln>
          </p:spPr>
          <p:txBody>
            <a:bodyPr/>
            <a:lstStyle/>
            <a:p>
              <a:endParaRPr lang="en-US" sz="2182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6">
            <a:extLst>
              <a:ext uri="{FF2B5EF4-FFF2-40B4-BE49-F238E27FC236}">
                <a16:creationId xmlns:a16="http://schemas.microsoft.com/office/drawing/2014/main" id="{C39D22A9-2CAE-70BE-D33D-6B8CA85C4813}"/>
              </a:ext>
            </a:extLst>
          </p:cNvPr>
          <p:cNvSpPr/>
          <p:nvPr/>
        </p:nvSpPr>
        <p:spPr>
          <a:xfrm>
            <a:off x="13752" y="1185950"/>
            <a:ext cx="12191673" cy="5672050"/>
          </a:xfrm>
          <a:prstGeom prst="rect">
            <a:avLst/>
          </a:prstGeom>
          <a:solidFill>
            <a:srgbClr val="065A82">
              <a:alpha val="46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2" name="Shape 0"/>
          <p:cNvSpPr/>
          <p:nvPr/>
        </p:nvSpPr>
        <p:spPr>
          <a:xfrm>
            <a:off x="13752" y="19988"/>
            <a:ext cx="12188952" cy="1216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3" name="Text 1"/>
          <p:cNvSpPr/>
          <p:nvPr/>
        </p:nvSpPr>
        <p:spPr>
          <a:xfrm>
            <a:off x="578142" y="256019"/>
            <a:ext cx="4908257" cy="8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CCF3EB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Learning Journey</a:t>
            </a:r>
            <a:endParaRPr lang="en-US" sz="4400" dirty="0">
              <a:solidFill>
                <a:srgbClr val="CCF3EB"/>
              </a:solidFill>
              <a:latin typeface="Josefin Sans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9362" y="1525608"/>
            <a:ext cx="841248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22703" y="1564237"/>
            <a:ext cx="7926162" cy="87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b="1" dirty="0">
                <a:solidFill>
                  <a:srgbClr val="CCEEFF"/>
                </a:solidFill>
                <a:latin typeface="Josefin Sans" panose="00000500000000000000" pitchFamily="2" charset="0"/>
                <a:ea typeface="Calibri" pitchFamily="34" charset="-122"/>
                <a:cs typeface="Calibri" pitchFamily="34" charset="-120"/>
              </a:rPr>
              <a:t>Foundation: </a:t>
            </a:r>
            <a:r>
              <a:rPr lang="en-US" sz="2200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r>
              <a:rPr lang="en-US" sz="2200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Toolkits &amp; Text Processing</a:t>
            </a:r>
            <a:endParaRPr lang="en-US" sz="2200" dirty="0"/>
          </a:p>
          <a:p>
            <a:r>
              <a:rPr lang="en-US" sz="2200" i="1" dirty="0">
                <a:solidFill>
                  <a:srgbClr val="B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GitHub · Jupyter · VS Code · Python · NLTK · spaCy · Pandas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31072" y="2527618"/>
            <a:ext cx="84124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1278784" y="2595967"/>
            <a:ext cx="8126794" cy="842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Core NLP:   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Representation / POS / Semantic Analysis</a:t>
            </a:r>
          </a:p>
          <a:p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</a:t>
            </a:r>
            <a:r>
              <a:rPr lang="en-US" sz="2200" i="1" dirty="0" err="1">
                <a:solidFill>
                  <a:srgbClr val="B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</a:t>
            </a:r>
            <a:r>
              <a:rPr lang="en-US" sz="2200" i="1" dirty="0">
                <a:solidFill>
                  <a:srgbClr val="B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TF-IDF · N-Grams · Scikit-Learn · Matplotlib</a:t>
            </a:r>
            <a:endParaRPr lang="en-US" sz="22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1D21091-727E-18F7-E2C7-2EA337B968E7}"/>
              </a:ext>
            </a:extLst>
          </p:cNvPr>
          <p:cNvGrpSpPr/>
          <p:nvPr/>
        </p:nvGrpSpPr>
        <p:grpSpPr>
          <a:xfrm>
            <a:off x="3187076" y="5498918"/>
            <a:ext cx="8412480" cy="914400"/>
            <a:chOff x="3187076" y="5498918"/>
            <a:chExt cx="8412480" cy="914400"/>
          </a:xfrm>
        </p:grpSpPr>
        <p:sp>
          <p:nvSpPr>
            <p:cNvPr id="16" name="Shape 14"/>
            <p:cNvSpPr/>
            <p:nvPr/>
          </p:nvSpPr>
          <p:spPr>
            <a:xfrm>
              <a:off x="3187076" y="5498918"/>
              <a:ext cx="8412480" cy="914400"/>
            </a:xfrm>
            <a:prstGeom prst="rect">
              <a:avLst/>
            </a:prstGeom>
            <a:solidFill>
              <a:srgbClr val="02C39A"/>
            </a:solidFill>
            <a:ln w="12700">
              <a:solidFill>
                <a:srgbClr val="02C39A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en-US" sz="2200"/>
            </a:p>
          </p:txBody>
        </p:sp>
        <p:sp>
          <p:nvSpPr>
            <p:cNvPr id="17" name="Text 15"/>
            <p:cNvSpPr/>
            <p:nvPr/>
          </p:nvSpPr>
          <p:spPr>
            <a:xfrm>
              <a:off x="3335518" y="5576851"/>
              <a:ext cx="8133475" cy="8364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200" b="1" dirty="0">
                  <a:solidFill>
                    <a:srgbClr val="CCEE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Final Project:  </a:t>
              </a:r>
              <a:r>
                <a:rPr lang="en-US" sz="2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NewsBot Intelligence System 2.0</a:t>
              </a:r>
              <a:endParaRPr lang="en-US" sz="2200" dirty="0"/>
            </a:p>
            <a:p>
              <a:r>
                <a:rPr lang="en-US" sz="2200" i="1" dirty="0">
                  <a:solidFill>
                    <a:srgbClr val="B0DD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	Kaggle · Production-Ready Platform · Multi-Pipeline NLP</a:t>
              </a:r>
              <a:endParaRPr lang="en-US" sz="22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4AC52FC-2D8C-23A3-E526-92FFCBDC3C8D}"/>
              </a:ext>
            </a:extLst>
          </p:cNvPr>
          <p:cNvGrpSpPr/>
          <p:nvPr/>
        </p:nvGrpSpPr>
        <p:grpSpPr>
          <a:xfrm>
            <a:off x="2512483" y="4525807"/>
            <a:ext cx="8412480" cy="1078936"/>
            <a:chOff x="2340605" y="4518932"/>
            <a:chExt cx="8412480" cy="1078936"/>
          </a:xfrm>
        </p:grpSpPr>
        <p:sp>
          <p:nvSpPr>
            <p:cNvPr id="13" name="Shape 11"/>
            <p:cNvSpPr/>
            <p:nvPr/>
          </p:nvSpPr>
          <p:spPr>
            <a:xfrm>
              <a:off x="2340605" y="4518932"/>
              <a:ext cx="8412480" cy="914400"/>
            </a:xfrm>
            <a:prstGeom prst="rect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/>
            <a:lstStyle/>
            <a:p>
              <a:endParaRPr lang="en-US" sz="2200"/>
            </a:p>
          </p:txBody>
        </p:sp>
        <p:sp>
          <p:nvSpPr>
            <p:cNvPr id="14" name="Text 12"/>
            <p:cNvSpPr/>
            <p:nvPr/>
          </p:nvSpPr>
          <p:spPr>
            <a:xfrm>
              <a:off x="2585071" y="4587539"/>
              <a:ext cx="7858708" cy="8866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200" b="1" dirty="0">
                  <a:solidFill>
                    <a:srgbClr val="CCEE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Advanced Techniques:   </a:t>
              </a:r>
              <a:r>
                <a:rPr lang="en-US" sz="2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LLMs / Machine Translation / Topic Modeling      </a:t>
              </a:r>
              <a:r>
                <a:rPr lang="en-US" sz="2200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     </a:t>
              </a:r>
              <a:r>
                <a:rPr lang="en-US" sz="2200" i="1" dirty="0">
                  <a:solidFill>
                    <a:srgbClr val="B0DD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   LDA · NMF · NER · Conversational AI</a:t>
              </a:r>
              <a:endParaRPr lang="en-US" sz="22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0471018" y="5232108"/>
              <a:ext cx="55417" cy="365760"/>
            </a:xfrm>
            <a:prstGeom prst="rect">
              <a:avLst/>
            </a:prstGeom>
            <a:solidFill>
              <a:srgbClr val="AABBCC"/>
            </a:solidFill>
            <a:ln w="12700">
              <a:solidFill>
                <a:srgbClr val="AABBCC"/>
              </a:solidFill>
              <a:prstDash val="solid"/>
            </a:ln>
          </p:spPr>
          <p:txBody>
            <a:bodyPr/>
            <a:lstStyle/>
            <a:p>
              <a:endParaRPr lang="en-US" sz="220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3294467-3198-8B29-889F-6160D2187D14}"/>
              </a:ext>
            </a:extLst>
          </p:cNvPr>
          <p:cNvGrpSpPr/>
          <p:nvPr/>
        </p:nvGrpSpPr>
        <p:grpSpPr>
          <a:xfrm>
            <a:off x="1838627" y="3237633"/>
            <a:ext cx="8229600" cy="1368162"/>
            <a:chOff x="1756127" y="3237633"/>
            <a:chExt cx="8229600" cy="1368162"/>
          </a:xfrm>
        </p:grpSpPr>
        <p:sp>
          <p:nvSpPr>
            <p:cNvPr id="10" name="Shape 8"/>
            <p:cNvSpPr/>
            <p:nvPr/>
          </p:nvSpPr>
          <p:spPr>
            <a:xfrm>
              <a:off x="1756127" y="3511429"/>
              <a:ext cx="8229600" cy="914400"/>
            </a:xfrm>
            <a:prstGeom prst="rect">
              <a:avLst/>
            </a:prstGeom>
            <a:solidFill>
              <a:srgbClr val="028577"/>
            </a:solidFill>
            <a:ln w="12700">
              <a:solidFill>
                <a:srgbClr val="028577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en-US" sz="2200"/>
            </a:p>
          </p:txBody>
        </p:sp>
        <p:sp>
          <p:nvSpPr>
            <p:cNvPr id="11" name="Text 9"/>
            <p:cNvSpPr/>
            <p:nvPr/>
          </p:nvSpPr>
          <p:spPr>
            <a:xfrm>
              <a:off x="1918178" y="3571835"/>
              <a:ext cx="7685482" cy="8866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200" b="1" dirty="0">
                  <a:solidFill>
                    <a:srgbClr val="CCEE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Machine Learning:   </a:t>
              </a:r>
              <a:r>
                <a:rPr lang="en-US" sz="2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Sentiment &amp; Emotion / Text Classification</a:t>
              </a:r>
              <a:r>
                <a:rPr lang="en-US" sz="2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	</a:t>
              </a:r>
            </a:p>
            <a:p>
              <a:r>
                <a:rPr lang="en-US" sz="22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  </a:t>
              </a:r>
              <a:r>
                <a:rPr lang="en-US" sz="2200" i="1" dirty="0">
                  <a:solidFill>
                    <a:srgbClr val="B0DD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VADER · TextBlob · DataFrames · Seaborn</a:t>
              </a:r>
              <a:endParaRPr lang="en-US" sz="22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9737607" y="4240035"/>
              <a:ext cx="55417" cy="365760"/>
            </a:xfrm>
            <a:prstGeom prst="rect">
              <a:avLst/>
            </a:prstGeom>
            <a:solidFill>
              <a:srgbClr val="AABBCC"/>
            </a:solidFill>
            <a:ln w="12700">
              <a:solidFill>
                <a:srgbClr val="AABBCC"/>
              </a:solidFill>
              <a:prstDash val="solid"/>
            </a:ln>
          </p:spPr>
          <p:txBody>
            <a:bodyPr/>
            <a:lstStyle/>
            <a:p>
              <a:endParaRPr lang="en-US" sz="2200"/>
            </a:p>
          </p:txBody>
        </p:sp>
        <p:sp>
          <p:nvSpPr>
            <p:cNvPr id="9" name="Shape 7"/>
            <p:cNvSpPr/>
            <p:nvPr/>
          </p:nvSpPr>
          <p:spPr>
            <a:xfrm>
              <a:off x="9320801" y="3237633"/>
              <a:ext cx="55417" cy="365760"/>
            </a:xfrm>
            <a:prstGeom prst="rect">
              <a:avLst/>
            </a:prstGeom>
            <a:solidFill>
              <a:srgbClr val="AABBCC"/>
            </a:solidFill>
            <a:ln w="12700">
              <a:solidFill>
                <a:srgbClr val="AABBCC"/>
              </a:solidFill>
              <a:prstDash val="solid"/>
            </a:ln>
          </p:spPr>
          <p:txBody>
            <a:bodyPr/>
            <a:lstStyle/>
            <a:p>
              <a:endParaRPr lang="en-US" sz="2200"/>
            </a:p>
          </p:txBody>
        </p:sp>
      </p:grpSp>
      <p:sp>
        <p:nvSpPr>
          <p:cNvPr id="6" name="Shape 4"/>
          <p:cNvSpPr/>
          <p:nvPr/>
        </p:nvSpPr>
        <p:spPr>
          <a:xfrm>
            <a:off x="8792430" y="2260772"/>
            <a:ext cx="55417" cy="365760"/>
          </a:xfrm>
          <a:prstGeom prst="rect">
            <a:avLst/>
          </a:prstGeom>
          <a:solidFill>
            <a:srgbClr val="AABBCC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n-US" sz="22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DC9344B-8A54-995E-33FC-D1651766665A}"/>
              </a:ext>
            </a:extLst>
          </p:cNvPr>
          <p:cNvGrpSpPr/>
          <p:nvPr/>
        </p:nvGrpSpPr>
        <p:grpSpPr>
          <a:xfrm>
            <a:off x="6531416" y="311020"/>
            <a:ext cx="5069339" cy="656313"/>
            <a:chOff x="6497631" y="389869"/>
            <a:chExt cx="5108075" cy="681477"/>
          </a:xfrm>
        </p:grpSpPr>
        <p:sp>
          <p:nvSpPr>
            <p:cNvPr id="32" name="Text 10">
              <a:extLst>
                <a:ext uri="{FF2B5EF4-FFF2-40B4-BE49-F238E27FC236}">
                  <a16:creationId xmlns:a16="http://schemas.microsoft.com/office/drawing/2014/main" id="{EF1B6918-DD43-7265-3D3C-AF59EB3A7F09}"/>
                </a:ext>
              </a:extLst>
            </p:cNvPr>
            <p:cNvSpPr/>
            <p:nvPr/>
          </p:nvSpPr>
          <p:spPr>
            <a:xfrm>
              <a:off x="6497631" y="787362"/>
              <a:ext cx="4448052" cy="274320"/>
            </a:xfrm>
            <a:prstGeom prst="rect">
              <a:avLst/>
            </a:prstGeom>
            <a:solidFill>
              <a:srgbClr val="054952"/>
            </a:solidFill>
            <a:ln w="12700">
              <a:solidFill>
                <a:srgbClr val="02809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</a:t>
              </a:r>
              <a:r>
                <a:rPr lang="en-US" sz="1600" b="1" u="sng" dirty="0" err="1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github.com</a:t>
              </a:r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/</a:t>
              </a:r>
              <a:r>
                <a:rPr lang="en-US" sz="1600" b="1" u="sng" dirty="0" err="1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Nichelleg</a:t>
              </a:r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/</a:t>
              </a:r>
              <a:r>
                <a:rPr lang="en-US" sz="14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AI-Portfolio-Nichelle-Graf</a:t>
              </a:r>
              <a:endParaRPr lang="en-US" sz="1600" dirty="0">
                <a:solidFill>
                  <a:srgbClr val="D1FAF1"/>
                </a:solidFill>
                <a:latin typeface="Josefin Sans Light" panose="00000400000000000000" pitchFamily="2" charset="0"/>
              </a:endParaRP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F2042732-0F6C-8855-1F06-BE28FE00E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60736" y="389869"/>
              <a:ext cx="644970" cy="6814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11031" y="1185950"/>
            <a:ext cx="12188952" cy="2593111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0EB93837-9B69-1BFE-3DCC-9B288A6282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031" y="3792694"/>
            <a:ext cx="12192000" cy="3084588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2" name="Shape 0"/>
          <p:cNvSpPr/>
          <p:nvPr/>
        </p:nvSpPr>
        <p:spPr>
          <a:xfrm>
            <a:off x="387997" y="594916"/>
            <a:ext cx="11083637" cy="405714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3" name="Text 1"/>
          <p:cNvSpPr/>
          <p:nvPr/>
        </p:nvSpPr>
        <p:spPr>
          <a:xfrm>
            <a:off x="570642" y="269772"/>
            <a:ext cx="10347159" cy="785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D1FAF1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Featured Projects</a:t>
            </a:r>
            <a:endParaRPr lang="en-US" sz="4400" dirty="0">
              <a:solidFill>
                <a:srgbClr val="D1FAF1"/>
              </a:solidFill>
              <a:latin typeface="Josefin Sans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524" y="1124074"/>
            <a:ext cx="12188952" cy="45719"/>
          </a:xfrm>
          <a:prstGeom prst="rect">
            <a:avLst/>
          </a:prstGeom>
          <a:solidFill>
            <a:srgbClr val="009999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182">
              <a:solidFill>
                <a:srgbClr val="009999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8D09897-B57B-C703-B97A-DE58A14E7CD5}"/>
              </a:ext>
            </a:extLst>
          </p:cNvPr>
          <p:cNvGrpSpPr/>
          <p:nvPr/>
        </p:nvGrpSpPr>
        <p:grpSpPr>
          <a:xfrm>
            <a:off x="605017" y="1389003"/>
            <a:ext cx="548640" cy="555456"/>
            <a:chOff x="778418" y="1523477"/>
            <a:chExt cx="502710" cy="560572"/>
          </a:xfrm>
        </p:grpSpPr>
        <p:sp>
          <p:nvSpPr>
            <p:cNvPr id="6" name="Shape 4"/>
            <p:cNvSpPr/>
            <p:nvPr/>
          </p:nvSpPr>
          <p:spPr>
            <a:xfrm>
              <a:off x="778418" y="1523477"/>
              <a:ext cx="502710" cy="546814"/>
            </a:xfrm>
            <a:prstGeom prst="ellipse">
              <a:avLst/>
            </a:prstGeom>
            <a:solidFill>
              <a:srgbClr val="065A82"/>
            </a:solidFill>
            <a:ln w="12700">
              <a:solidFill>
                <a:srgbClr val="065A82"/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7" name="Text 5"/>
            <p:cNvSpPr/>
            <p:nvPr/>
          </p:nvSpPr>
          <p:spPr>
            <a:xfrm>
              <a:off x="778418" y="1530356"/>
              <a:ext cx="502710" cy="553693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200" b="1" dirty="0">
                  <a:solidFill>
                    <a:srgbClr val="D1FAF1"/>
                  </a:solidFill>
                  <a:latin typeface="Josefin Sans" panose="00000500000000000000" pitchFamily="2" charset="0"/>
                  <a:ea typeface="Georgia" pitchFamily="34" charset="-122"/>
                  <a:cs typeface="Georgia" pitchFamily="34" charset="-120"/>
                </a:rPr>
                <a:t>1</a:t>
              </a:r>
              <a:endParaRPr lang="en-US" sz="2200" dirty="0">
                <a:solidFill>
                  <a:srgbClr val="D1FAF1"/>
                </a:solidFill>
                <a:latin typeface="Josefin Sans" panose="00000500000000000000" pitchFamily="2" charset="0"/>
              </a:endParaRPr>
            </a:p>
          </p:txBody>
        </p:sp>
      </p:grpSp>
      <p:sp>
        <p:nvSpPr>
          <p:cNvPr id="9" name="Text 7"/>
          <p:cNvSpPr/>
          <p:nvPr/>
        </p:nvSpPr>
        <p:spPr>
          <a:xfrm>
            <a:off x="1415183" y="1608536"/>
            <a:ext cx="1563989" cy="31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29308" y="1211735"/>
            <a:ext cx="3996785" cy="975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Sentiment &amp; Emotion </a:t>
            </a:r>
          </a:p>
          <a:p>
            <a:r>
              <a:rPr lang="en-US" sz="2000" b="1" dirty="0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Analysis Lab</a:t>
            </a:r>
            <a:endParaRPr lang="en-US" sz="2000" dirty="0">
              <a:solidFill>
                <a:srgbClr val="02C39A"/>
              </a:solidFill>
              <a:latin typeface="Josefin Sans" panose="000005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33875" y="1858027"/>
            <a:ext cx="4781914" cy="1485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Multi-library pipeline comparing </a:t>
            </a:r>
            <a:r>
              <a:rPr lang="en-US" sz="2000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</a:t>
            </a:r>
            <a:r>
              <a:rPr lang="en-US" sz="20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2000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</a:t>
            </a:r>
            <a:r>
              <a:rPr lang="en-US" sz="20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social media, reviews, and news datasets. 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5183" y="2987699"/>
            <a:ext cx="4098718" cy="729087"/>
          </a:xfrm>
          <a:prstGeom prst="rect">
            <a:avLst/>
          </a:prstGeom>
          <a:noFill/>
          <a:ln/>
        </p:spPr>
        <p:txBody>
          <a:bodyPr wrap="square" lIns="61576" tIns="61576" rIns="61576" bIns="61576" rtlCol="0" anchor="ctr"/>
          <a:lstStyle/>
          <a:p>
            <a:pPr algn="ctr"/>
            <a:r>
              <a:rPr lang="en-US" sz="2000" i="1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Seaborn · DataFrames</a:t>
            </a:r>
            <a:endParaRPr lang="en-US" sz="2000" dirty="0">
              <a:solidFill>
                <a:srgbClr val="009999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7A8A68B-E7DB-FAEB-91C8-6A75A651D179}"/>
              </a:ext>
            </a:extLst>
          </p:cNvPr>
          <p:cNvGrpSpPr/>
          <p:nvPr/>
        </p:nvGrpSpPr>
        <p:grpSpPr>
          <a:xfrm>
            <a:off x="605016" y="3986250"/>
            <a:ext cx="548641" cy="560569"/>
            <a:chOff x="1541741" y="4239933"/>
            <a:chExt cx="548641" cy="560569"/>
          </a:xfrm>
        </p:grpSpPr>
        <p:sp>
          <p:nvSpPr>
            <p:cNvPr id="16" name="Shape 14"/>
            <p:cNvSpPr/>
            <p:nvPr/>
          </p:nvSpPr>
          <p:spPr>
            <a:xfrm>
              <a:off x="1541741" y="4239933"/>
              <a:ext cx="548640" cy="546814"/>
            </a:xfrm>
            <a:prstGeom prst="ellipse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en-US" sz="2182"/>
            </a:p>
          </p:txBody>
        </p:sp>
        <p:sp>
          <p:nvSpPr>
            <p:cNvPr id="17" name="Text 15"/>
            <p:cNvSpPr/>
            <p:nvPr/>
          </p:nvSpPr>
          <p:spPr>
            <a:xfrm>
              <a:off x="1541742" y="4253688"/>
              <a:ext cx="548640" cy="546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200" b="1" dirty="0">
                  <a:solidFill>
                    <a:srgbClr val="D1FAF1"/>
                  </a:solidFill>
                  <a:latin typeface="Josefin Sans" panose="00000500000000000000" pitchFamily="2" charset="0"/>
                  <a:ea typeface="Georgia" pitchFamily="34" charset="-122"/>
                  <a:cs typeface="Georgia" pitchFamily="34" charset="-120"/>
                </a:rPr>
                <a:t>2</a:t>
              </a:r>
              <a:endParaRPr lang="en-US" sz="2200" dirty="0">
                <a:solidFill>
                  <a:srgbClr val="D1FAF1"/>
                </a:solidFill>
                <a:latin typeface="Josefin Sans" panose="00000500000000000000" pitchFamily="2" charset="0"/>
              </a:endParaRPr>
            </a:p>
          </p:txBody>
        </p:sp>
      </p:grpSp>
      <p:sp>
        <p:nvSpPr>
          <p:cNvPr id="20" name="Text 18"/>
          <p:cNvSpPr/>
          <p:nvPr/>
        </p:nvSpPr>
        <p:spPr>
          <a:xfrm>
            <a:off x="1244191" y="3831514"/>
            <a:ext cx="4851809" cy="807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NewsBot</a:t>
            </a:r>
            <a:r>
              <a:rPr lang="en-US" sz="2000" b="1" dirty="0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 Intelligence System </a:t>
            </a:r>
          </a:p>
          <a:p>
            <a:r>
              <a:rPr lang="en-US" sz="2000" dirty="0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(Development) Midterm Project</a:t>
            </a:r>
            <a:endParaRPr lang="en-US" sz="2000" dirty="0">
              <a:solidFill>
                <a:srgbClr val="02C39A"/>
              </a:solidFill>
              <a:latin typeface="Josefin Sans" panose="00000500000000000000" pitchFamily="2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3557439-3561-C825-4A6D-771A08F06B68}"/>
              </a:ext>
            </a:extLst>
          </p:cNvPr>
          <p:cNvGrpSpPr/>
          <p:nvPr/>
        </p:nvGrpSpPr>
        <p:grpSpPr>
          <a:xfrm>
            <a:off x="6406141" y="4006225"/>
            <a:ext cx="548640" cy="567439"/>
            <a:chOff x="9368890" y="4988401"/>
            <a:chExt cx="548640" cy="567439"/>
          </a:xfrm>
        </p:grpSpPr>
        <p:sp>
          <p:nvSpPr>
            <p:cNvPr id="26" name="Shape 24"/>
            <p:cNvSpPr/>
            <p:nvPr/>
          </p:nvSpPr>
          <p:spPr>
            <a:xfrm>
              <a:off x="9368890" y="5009026"/>
              <a:ext cx="548640" cy="546814"/>
            </a:xfrm>
            <a:prstGeom prst="ellipse">
              <a:avLst/>
            </a:prstGeom>
            <a:solidFill>
              <a:srgbClr val="02C39A"/>
            </a:solidFill>
            <a:ln w="12700">
              <a:solidFill>
                <a:srgbClr val="02C39A"/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en-US" sz="2182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9382643" y="4988401"/>
              <a:ext cx="523644" cy="546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200" b="1" dirty="0">
                  <a:solidFill>
                    <a:srgbClr val="D1FAF1"/>
                  </a:solidFill>
                  <a:latin typeface="Josefin Sans" panose="00000500000000000000" pitchFamily="2" charset="0"/>
                  <a:ea typeface="Georgia" pitchFamily="34" charset="-122"/>
                  <a:cs typeface="Georgia" pitchFamily="34" charset="-120"/>
                </a:rPr>
                <a:t>3</a:t>
              </a:r>
              <a:endParaRPr lang="en-US" sz="2200" dirty="0">
                <a:solidFill>
                  <a:srgbClr val="D1FAF1"/>
                </a:solidFill>
                <a:latin typeface="Josefin Sans" panose="00000500000000000000" pitchFamily="2" charset="0"/>
              </a:endParaRPr>
            </a:p>
          </p:txBody>
        </p:sp>
      </p:grpSp>
      <p:sp>
        <p:nvSpPr>
          <p:cNvPr id="30" name="Text 28"/>
          <p:cNvSpPr/>
          <p:nvPr/>
        </p:nvSpPr>
        <p:spPr>
          <a:xfrm>
            <a:off x="7102541" y="4018023"/>
            <a:ext cx="4479527" cy="530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NewsBot</a:t>
            </a:r>
            <a:r>
              <a:rPr lang="en-US" sz="2000" b="1" dirty="0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 2.0 Enhancement</a:t>
            </a:r>
            <a:r>
              <a:rPr lang="en-US" sz="2000" dirty="0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 </a:t>
            </a:r>
          </a:p>
          <a:p>
            <a:r>
              <a:rPr lang="en-US" sz="2000" dirty="0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(Production Platform) Final Project</a:t>
            </a:r>
            <a:endParaRPr lang="en-US" sz="2000" dirty="0">
              <a:solidFill>
                <a:srgbClr val="02C39A"/>
              </a:solidFill>
              <a:latin typeface="Josefin Sans" panose="00000500000000000000" pitchFamily="2" charset="0"/>
            </a:endParaRP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93F7C1A1-50C7-323A-57A7-B65F961B4545}"/>
              </a:ext>
            </a:extLst>
          </p:cNvPr>
          <p:cNvSpPr/>
          <p:nvPr/>
        </p:nvSpPr>
        <p:spPr>
          <a:xfrm>
            <a:off x="5216961" y="4183523"/>
            <a:ext cx="914400" cy="216869"/>
          </a:xfrm>
          <a:prstGeom prst="chevron">
            <a:avLst/>
          </a:prstGeom>
          <a:solidFill>
            <a:srgbClr val="CCF3EB"/>
          </a:solidFill>
          <a:ln>
            <a:solidFill>
              <a:srgbClr val="009999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FDC7396-C000-18B8-D8DE-67EA4D61C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363" y="1250813"/>
            <a:ext cx="5157703" cy="2445671"/>
          </a:xfrm>
          <a:prstGeom prst="rect">
            <a:avLst/>
          </a:prstGeom>
          <a:ln w="38100">
            <a:solidFill>
              <a:srgbClr val="009999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44" name="Shape 3">
            <a:extLst>
              <a:ext uri="{FF2B5EF4-FFF2-40B4-BE49-F238E27FC236}">
                <a16:creationId xmlns:a16="http://schemas.microsoft.com/office/drawing/2014/main" id="{C3882384-E466-0D80-D756-201FF3D0FB43}"/>
              </a:ext>
            </a:extLst>
          </p:cNvPr>
          <p:cNvSpPr/>
          <p:nvPr/>
        </p:nvSpPr>
        <p:spPr>
          <a:xfrm>
            <a:off x="11031" y="3779061"/>
            <a:ext cx="12188952" cy="45719"/>
          </a:xfrm>
          <a:prstGeom prst="rect">
            <a:avLst/>
          </a:prstGeom>
          <a:solidFill>
            <a:srgbClr val="009999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182">
              <a:solidFill>
                <a:srgbClr val="009999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32D19B1-014D-80A7-F70F-514CE6DFE972}"/>
              </a:ext>
            </a:extLst>
          </p:cNvPr>
          <p:cNvGrpSpPr>
            <a:grpSpLocks/>
          </p:cNvGrpSpPr>
          <p:nvPr/>
        </p:nvGrpSpPr>
        <p:grpSpPr>
          <a:xfrm>
            <a:off x="2108809" y="4700053"/>
            <a:ext cx="8087098" cy="1753523"/>
            <a:chOff x="2397564" y="4700053"/>
            <a:chExt cx="8087098" cy="1753523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3DF1803-FDEC-7DC1-162B-D5787F48D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97564" y="4700053"/>
              <a:ext cx="3525408" cy="1753523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</p:pic>
        <p:sp>
          <p:nvSpPr>
            <p:cNvPr id="21" name="Text 19"/>
            <p:cNvSpPr>
              <a:spLocks/>
            </p:cNvSpPr>
            <p:nvPr/>
          </p:nvSpPr>
          <p:spPr>
            <a:xfrm>
              <a:off x="6233179" y="4866981"/>
              <a:ext cx="4251483" cy="10241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solidFill>
                    <a:srgbClr val="A0BE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Advanced News Content Analysis:</a:t>
              </a:r>
              <a:r>
                <a:rPr lang="en-US" sz="2000" dirty="0">
                  <a:solidFill>
                    <a:srgbClr val="A0BE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r>
                <a:rPr lang="en-US" sz="2000" dirty="0">
                  <a:solidFill>
                    <a:srgbClr val="A0BE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Topic modelling  &gt;  Multi-class </a:t>
              </a:r>
            </a:p>
            <a:p>
              <a:r>
                <a:rPr lang="en-US" sz="2000" dirty="0">
                  <a:solidFill>
                    <a:srgbClr val="A0BE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classification &gt; Querying &gt;  Interpretable outputs.</a:t>
              </a:r>
              <a:endParaRPr lang="en-US" sz="2000" dirty="0"/>
            </a:p>
          </p:txBody>
        </p:sp>
        <p:sp>
          <p:nvSpPr>
            <p:cNvPr id="23" name="Text 21"/>
            <p:cNvSpPr>
              <a:spLocks/>
            </p:cNvSpPr>
            <p:nvPr/>
          </p:nvSpPr>
          <p:spPr>
            <a:xfrm>
              <a:off x="6534269" y="6005721"/>
              <a:ext cx="3518488" cy="427226"/>
            </a:xfrm>
            <a:prstGeom prst="rect">
              <a:avLst/>
            </a:prstGeom>
            <a:noFill/>
            <a:ln/>
          </p:spPr>
          <p:txBody>
            <a:bodyPr wrap="square" lIns="61576" tIns="61576" rIns="61576" bIns="61576" rtlCol="0" anchor="ctr"/>
            <a:lstStyle/>
            <a:p>
              <a:pPr algn="ctr"/>
              <a:r>
                <a:rPr lang="en-US" sz="2000" i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TF-IDF · LDA · NMF · NER · Kaggle</a:t>
              </a:r>
              <a:endParaRPr lang="en-US" sz="2000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4FAD45D-34A4-23E0-3D78-71D2314FD05A}"/>
              </a:ext>
            </a:extLst>
          </p:cNvPr>
          <p:cNvGrpSpPr/>
          <p:nvPr/>
        </p:nvGrpSpPr>
        <p:grpSpPr>
          <a:xfrm>
            <a:off x="6524541" y="317899"/>
            <a:ext cx="5069339" cy="656313"/>
            <a:chOff x="6497631" y="389869"/>
            <a:chExt cx="5108075" cy="681477"/>
          </a:xfrm>
        </p:grpSpPr>
        <p:sp>
          <p:nvSpPr>
            <p:cNvPr id="61" name="Text 10">
              <a:extLst>
                <a:ext uri="{FF2B5EF4-FFF2-40B4-BE49-F238E27FC236}">
                  <a16:creationId xmlns:a16="http://schemas.microsoft.com/office/drawing/2014/main" id="{2BB92643-C454-C471-F074-7D20D5280E01}"/>
                </a:ext>
              </a:extLst>
            </p:cNvPr>
            <p:cNvSpPr/>
            <p:nvPr/>
          </p:nvSpPr>
          <p:spPr>
            <a:xfrm>
              <a:off x="6497631" y="787362"/>
              <a:ext cx="4448052" cy="274320"/>
            </a:xfrm>
            <a:prstGeom prst="rect">
              <a:avLst/>
            </a:prstGeom>
            <a:solidFill>
              <a:srgbClr val="054952"/>
            </a:solidFill>
            <a:ln w="12700">
              <a:solidFill>
                <a:srgbClr val="02809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</a:t>
              </a:r>
              <a:r>
                <a:rPr lang="en-US" sz="1600" b="1" u="sng" dirty="0" err="1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github.com</a:t>
              </a:r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/</a:t>
              </a:r>
              <a:r>
                <a:rPr lang="en-US" sz="1600" b="1" u="sng" dirty="0" err="1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Nichelleg</a:t>
              </a:r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/</a:t>
              </a:r>
              <a:r>
                <a:rPr lang="en-US" sz="14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AI-Portfolio-Nichelle-Graf</a:t>
              </a:r>
              <a:endParaRPr lang="en-US" sz="1600" dirty="0">
                <a:solidFill>
                  <a:srgbClr val="D1FAF1"/>
                </a:solidFill>
                <a:latin typeface="Josefin Sans Light" panose="00000400000000000000" pitchFamily="2" charset="0"/>
              </a:endParaRPr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81AE3960-F10B-1CF6-07BB-C145BD680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960736" y="389869"/>
              <a:ext cx="644970" cy="6814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>
            <a:extLst>
              <a:ext uri="{FF2B5EF4-FFF2-40B4-BE49-F238E27FC236}">
                <a16:creationId xmlns:a16="http://schemas.microsoft.com/office/drawing/2014/main" id="{F32F89F4-4AB1-8A48-B070-61048A4E82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2" y="1210537"/>
            <a:ext cx="12191673" cy="5632626"/>
          </a:xfrm>
          <a:prstGeom prst="rect">
            <a:avLst/>
          </a:prstGeom>
          <a:solidFill>
            <a:srgbClr val="065A82">
              <a:alpha val="46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2" name="Shape 0"/>
          <p:cNvSpPr/>
          <p:nvPr/>
        </p:nvSpPr>
        <p:spPr>
          <a:xfrm>
            <a:off x="16473" y="9222"/>
            <a:ext cx="12188952" cy="1216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3" name="Text 1"/>
          <p:cNvSpPr/>
          <p:nvPr/>
        </p:nvSpPr>
        <p:spPr>
          <a:xfrm>
            <a:off x="578595" y="352274"/>
            <a:ext cx="5769315" cy="688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CCF3EB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Skills </a:t>
            </a:r>
            <a:r>
              <a:rPr lang="en-US" sz="3600" dirty="0">
                <a:solidFill>
                  <a:srgbClr val="CCF3EB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&amp;</a:t>
            </a:r>
            <a:r>
              <a:rPr lang="en-US" sz="4400" b="1" dirty="0">
                <a:solidFill>
                  <a:srgbClr val="CCF3EB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 Competencies</a:t>
            </a:r>
            <a:endParaRPr lang="en-US" sz="4400" dirty="0">
              <a:solidFill>
                <a:srgbClr val="CCF3EB"/>
              </a:solidFill>
              <a:latin typeface="Josefin Sans" panose="00000500000000000000" pitchFamily="2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32EF8EB-1EC3-C130-F135-0AC05C52909B}"/>
              </a:ext>
            </a:extLst>
          </p:cNvPr>
          <p:cNvGrpSpPr/>
          <p:nvPr/>
        </p:nvGrpSpPr>
        <p:grpSpPr>
          <a:xfrm>
            <a:off x="583767" y="1385011"/>
            <a:ext cx="11016989" cy="2349505"/>
            <a:chOff x="583767" y="1501886"/>
            <a:chExt cx="11016989" cy="2349505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2D0B17D-6E69-F941-03AD-07DE7B81515D}"/>
                </a:ext>
              </a:extLst>
            </p:cNvPr>
            <p:cNvGrpSpPr/>
            <p:nvPr/>
          </p:nvGrpSpPr>
          <p:grpSpPr>
            <a:xfrm>
              <a:off x="591246" y="1508758"/>
              <a:ext cx="3630168" cy="2342633"/>
              <a:chOff x="831272" y="1508760"/>
              <a:chExt cx="3325091" cy="2017222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831272" y="1508760"/>
                <a:ext cx="3325091" cy="354677"/>
              </a:xfrm>
              <a:prstGeom prst="rect">
                <a:avLst/>
              </a:prstGeom>
              <a:solidFill>
                <a:srgbClr val="065A82"/>
              </a:solidFill>
              <a:ln w="12700">
                <a:solidFill>
                  <a:srgbClr val="065A82"/>
                </a:solidFill>
                <a:prstDash val="solid"/>
              </a:ln>
            </p:spPr>
            <p:txBody>
              <a:bodyPr/>
              <a:lstStyle/>
              <a:p>
                <a:endParaRPr lang="en-US" sz="2182"/>
              </a:p>
            </p:txBody>
          </p:sp>
          <p:sp>
            <p:nvSpPr>
              <p:cNvPr id="5" name="Text 3"/>
              <p:cNvSpPr/>
              <p:nvPr/>
            </p:nvSpPr>
            <p:spPr>
              <a:xfrm>
                <a:off x="831272" y="1508760"/>
                <a:ext cx="3325091" cy="35467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kern="0" spc="243" dirty="0">
                    <a:solidFill>
                      <a:srgbClr val="D1FAF1"/>
                    </a:solidFill>
                    <a:latin typeface="Josefin Sans" panose="00000500000000000000" pitchFamily="2" charset="0"/>
                    <a:ea typeface="Calibri" pitchFamily="34" charset="-122"/>
                    <a:cs typeface="Calibri" pitchFamily="34" charset="-120"/>
                  </a:rPr>
                  <a:t>NLP CORE</a:t>
                </a:r>
                <a:endParaRPr lang="en-US" b="1" dirty="0">
                  <a:solidFill>
                    <a:srgbClr val="D1FAF1"/>
                  </a:solidFill>
                  <a:latin typeface="Josefin Sans" panose="00000500000000000000" pitchFamily="2" charset="0"/>
                </a:endParaRPr>
              </a:p>
            </p:txBody>
          </p:sp>
          <p:sp>
            <p:nvSpPr>
              <p:cNvPr id="6" name="Shape 4"/>
              <p:cNvSpPr/>
              <p:nvPr/>
            </p:nvSpPr>
            <p:spPr>
              <a:xfrm>
                <a:off x="831272" y="1863437"/>
                <a:ext cx="3325091" cy="1662545"/>
              </a:xfrm>
              <a:prstGeom prst="rect">
                <a:avLst/>
              </a:prstGeom>
              <a:solidFill>
                <a:srgbClr val="D0E8EC"/>
              </a:solidFill>
              <a:ln w="12700">
                <a:solidFill>
                  <a:srgbClr val="065A82">
                    <a:alpha val="60000"/>
                  </a:srgbClr>
                </a:solidFill>
                <a:prstDash val="solid"/>
              </a:ln>
              <a:effectLst>
                <a:outerShdw blurRad="38100" dist="127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en-US" sz="2182"/>
              </a:p>
            </p:txBody>
          </p:sp>
        </p:grpSp>
        <p:sp>
          <p:nvSpPr>
            <p:cNvPr id="7" name="Text 5"/>
            <p:cNvSpPr/>
            <p:nvPr/>
          </p:nvSpPr>
          <p:spPr>
            <a:xfrm>
              <a:off x="583767" y="2008230"/>
              <a:ext cx="3646737" cy="17733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415647" indent="-182880">
                <a:buSzPct val="100000"/>
                <a:buChar char="•"/>
              </a:pPr>
              <a:r>
                <a:rPr lang="en-US" dirty="0">
                  <a:solidFill>
                    <a:srgbClr val="0D1B2A"/>
                  </a:solidFill>
                  <a:ea typeface="Calibri" pitchFamily="34" charset="-122"/>
                  <a:cs typeface="Calibri" pitchFamily="34" charset="-120"/>
                </a:rPr>
                <a:t>Tokenization &amp; POS Tagging</a:t>
              </a:r>
            </a:p>
            <a:p>
              <a:pPr marL="415647" indent="-182880">
                <a:buSzPct val="100000"/>
                <a:buChar char="•"/>
              </a:pPr>
              <a:endParaRPr lang="en-US" sz="800" dirty="0"/>
            </a:p>
            <a:p>
              <a:pPr marL="415647" indent="-182880">
                <a:buSzPct val="100000"/>
                <a:buChar char="•"/>
              </a:pPr>
              <a:r>
                <a:rPr lang="en-US" dirty="0">
                  <a:solidFill>
                    <a:srgbClr val="0D1B2A"/>
                  </a:solidFill>
                  <a:ea typeface="Calibri" pitchFamily="34" charset="-122"/>
                  <a:cs typeface="Calibri" pitchFamily="34" charset="-120"/>
                </a:rPr>
                <a:t>Named Entity Recognition (NER)</a:t>
              </a:r>
            </a:p>
            <a:p>
              <a:pPr marL="415647" indent="-182880">
                <a:buSzPct val="100000"/>
                <a:buChar char="•"/>
              </a:pPr>
              <a:endParaRPr lang="en-US" sz="800" dirty="0"/>
            </a:p>
            <a:p>
              <a:pPr marL="415647" indent="-182880">
                <a:buSzPct val="100000"/>
                <a:buChar char="•"/>
              </a:pPr>
              <a:r>
                <a:rPr lang="en-US" dirty="0">
                  <a:solidFill>
                    <a:srgbClr val="0D1B2A"/>
                  </a:solidFill>
                  <a:ea typeface="Calibri" pitchFamily="34" charset="-122"/>
                  <a:cs typeface="Calibri" pitchFamily="34" charset="-120"/>
                </a:rPr>
                <a:t>Stemming &amp; Lemmatization</a:t>
              </a:r>
            </a:p>
            <a:p>
              <a:pPr marL="415647" indent="-182880">
                <a:buSzPct val="100000"/>
                <a:buChar char="•"/>
              </a:pPr>
              <a:endParaRPr lang="en-US" sz="800" dirty="0"/>
            </a:p>
            <a:p>
              <a:pPr marL="415647" indent="-182880">
                <a:buSzPct val="100000"/>
                <a:buChar char="•"/>
              </a:pPr>
              <a:r>
                <a:rPr lang="en-US" dirty="0">
                  <a:solidFill>
                    <a:srgbClr val="0D1B2A"/>
                  </a:solidFill>
                  <a:ea typeface="Calibri" pitchFamily="34" charset="-122"/>
                  <a:cs typeface="Calibri" pitchFamily="34" charset="-120"/>
                </a:rPr>
                <a:t>Sentiment &amp; Emotion Analysi</a:t>
              </a:r>
              <a:r>
                <a:rPr lang="en-US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</a:t>
              </a:r>
              <a:endParaRPr lang="en-US" dirty="0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092561B-B6D3-429E-1976-458CC5147123}"/>
                </a:ext>
              </a:extLst>
            </p:cNvPr>
            <p:cNvGrpSpPr/>
            <p:nvPr/>
          </p:nvGrpSpPr>
          <p:grpSpPr>
            <a:xfrm>
              <a:off x="4258888" y="1508759"/>
              <a:ext cx="3656015" cy="2342631"/>
              <a:chOff x="4376527" y="1508760"/>
              <a:chExt cx="3348768" cy="2102978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4400204" y="1508760"/>
                <a:ext cx="3325091" cy="354677"/>
              </a:xfrm>
              <a:prstGeom prst="rect">
                <a:avLst/>
              </a:prstGeom>
              <a:solidFill>
                <a:srgbClr val="028090"/>
              </a:solidFill>
              <a:ln w="12700">
                <a:solidFill>
                  <a:srgbClr val="028090"/>
                </a:solidFill>
                <a:prstDash val="solid"/>
              </a:ln>
            </p:spPr>
            <p:txBody>
              <a:bodyPr/>
              <a:lstStyle/>
              <a:p>
                <a:endParaRPr lang="en-US" sz="2182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4400204" y="1508760"/>
                <a:ext cx="3325091" cy="35467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kern="0" spc="243" dirty="0">
                    <a:solidFill>
                      <a:srgbClr val="D1FAF1"/>
                    </a:solidFill>
                    <a:latin typeface="Josefin Sans" panose="00000500000000000000" pitchFamily="2" charset="0"/>
                    <a:ea typeface="Calibri" pitchFamily="34" charset="-122"/>
                    <a:cs typeface="Calibri" pitchFamily="34" charset="-120"/>
                  </a:rPr>
                  <a:t>TEXT REPRESENTATION</a:t>
                </a:r>
                <a:endParaRPr lang="en-US" b="1" dirty="0">
                  <a:solidFill>
                    <a:srgbClr val="D1FAF1"/>
                  </a:solidFill>
                  <a:latin typeface="Josefin Sans" panose="00000500000000000000" pitchFamily="2" charset="0"/>
                </a:endParaRPr>
              </a:p>
            </p:txBody>
          </p:sp>
          <p:sp>
            <p:nvSpPr>
              <p:cNvPr id="10" name="Shape 8"/>
              <p:cNvSpPr/>
              <p:nvPr/>
            </p:nvSpPr>
            <p:spPr>
              <a:xfrm>
                <a:off x="4400204" y="1863437"/>
                <a:ext cx="3325091" cy="1748301"/>
              </a:xfrm>
              <a:prstGeom prst="rect">
                <a:avLst/>
              </a:prstGeom>
              <a:solidFill>
                <a:srgbClr val="D0E8EC"/>
              </a:solidFill>
              <a:ln w="12700">
                <a:solidFill>
                  <a:srgbClr val="028090">
                    <a:alpha val="60000"/>
                  </a:srgbClr>
                </a:solidFill>
                <a:prstDash val="solid"/>
              </a:ln>
              <a:effectLst>
                <a:outerShdw blurRad="38100" dist="127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en-US" sz="2182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4376527" y="1943993"/>
                <a:ext cx="3103418" cy="151206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415647" indent="-182880">
                  <a:buSzPct val="100000"/>
                  <a:buChar char="•"/>
                </a:pPr>
                <a:r>
                  <a:rPr lang="en-US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Bag of Words (</a:t>
                </a:r>
                <a:r>
                  <a:rPr lang="en-US" dirty="0" err="1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BoW</a:t>
                </a:r>
                <a:r>
                  <a:rPr lang="en-US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</a:p>
              <a:p>
                <a:pPr indent="-182880">
                  <a:buSzPct val="100000"/>
                </a:pPr>
                <a:endParaRPr lang="en-US" sz="800" dirty="0"/>
              </a:p>
              <a:p>
                <a:pPr marL="415647" indent="-182880">
                  <a:buSzPct val="100000"/>
                  <a:buChar char="•"/>
                </a:pPr>
                <a:r>
                  <a:rPr lang="en-US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TF-IDF Vectorization</a:t>
                </a:r>
              </a:p>
              <a:p>
                <a:pPr indent="-182880">
                  <a:buSzPct val="100000"/>
                </a:pPr>
                <a:endParaRPr lang="en-US" sz="800" dirty="0"/>
              </a:p>
              <a:p>
                <a:pPr marL="415647" indent="-182880">
                  <a:buSzPct val="100000"/>
                  <a:buChar char="•"/>
                </a:pPr>
                <a:r>
                  <a:rPr lang="en-US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N-Grams &amp; Word Embeddings</a:t>
                </a:r>
              </a:p>
              <a:p>
                <a:pPr indent="-182880">
                  <a:buSzPct val="100000"/>
                </a:pPr>
                <a:endParaRPr lang="en-US" sz="800" dirty="0"/>
              </a:p>
              <a:p>
                <a:pPr marL="415647" indent="-182880">
                  <a:buSzPct val="100000"/>
                  <a:buChar char="•"/>
                </a:pPr>
                <a:r>
                  <a:rPr lang="en-US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Topic Modeling: LDA / NMF</a:t>
                </a:r>
                <a:endParaRPr lang="en-US" dirty="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389FA51-C317-7A30-A9BF-C48E4E46EEE1}"/>
                </a:ext>
              </a:extLst>
            </p:cNvPr>
            <p:cNvGrpSpPr/>
            <p:nvPr/>
          </p:nvGrpSpPr>
          <p:grpSpPr>
            <a:xfrm>
              <a:off x="7966438" y="1501886"/>
              <a:ext cx="3634318" cy="2348624"/>
              <a:chOff x="7966665" y="1502751"/>
              <a:chExt cx="3327561" cy="2052929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7969135" y="1502751"/>
                <a:ext cx="3325091" cy="354677"/>
              </a:xfrm>
              <a:prstGeom prst="rect">
                <a:avLst/>
              </a:prstGeom>
              <a:solidFill>
                <a:srgbClr val="02C39A"/>
              </a:solidFill>
              <a:ln w="12700">
                <a:solidFill>
                  <a:srgbClr val="02C39A"/>
                </a:solidFill>
                <a:prstDash val="solid"/>
              </a:ln>
            </p:spPr>
            <p:txBody>
              <a:bodyPr/>
              <a:lstStyle/>
              <a:p>
                <a:endParaRPr lang="en-US" sz="2182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7969135" y="1508760"/>
                <a:ext cx="3325091" cy="35467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kern="0" spc="243" dirty="0">
                    <a:solidFill>
                      <a:srgbClr val="D1FAF1"/>
                    </a:solidFill>
                    <a:latin typeface="Josefin Sans" panose="00000500000000000000" pitchFamily="2" charset="0"/>
                    <a:ea typeface="Calibri" pitchFamily="34" charset="-122"/>
                    <a:cs typeface="Calibri" pitchFamily="34" charset="-120"/>
                  </a:rPr>
                  <a:t>ML PIPELINE</a:t>
                </a:r>
                <a:endParaRPr lang="en-US" b="1" dirty="0">
                  <a:solidFill>
                    <a:srgbClr val="D1FAF1"/>
                  </a:solidFill>
                  <a:latin typeface="Josefin Sans" panose="00000500000000000000" pitchFamily="2" charset="0"/>
                </a:endParaRPr>
              </a:p>
            </p:txBody>
          </p:sp>
          <p:sp>
            <p:nvSpPr>
              <p:cNvPr id="14" name="Shape 12"/>
              <p:cNvSpPr/>
              <p:nvPr/>
            </p:nvSpPr>
            <p:spPr>
              <a:xfrm>
                <a:off x="7969135" y="1863436"/>
                <a:ext cx="3325091" cy="1692244"/>
              </a:xfrm>
              <a:prstGeom prst="rect">
                <a:avLst/>
              </a:prstGeom>
              <a:solidFill>
                <a:srgbClr val="D0E8EC"/>
              </a:solidFill>
              <a:ln w="12700">
                <a:solidFill>
                  <a:srgbClr val="02C39A">
                    <a:alpha val="60000"/>
                  </a:srgbClr>
                </a:solidFill>
                <a:prstDash val="solid"/>
              </a:ln>
              <a:effectLst>
                <a:outerShdw blurRad="38100" dist="127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en-US" sz="2182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7966665" y="1828711"/>
                <a:ext cx="3103418" cy="16922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415647" indent="-182880">
                  <a:buSzPct val="100000"/>
                  <a:buChar char="•"/>
                </a:pPr>
                <a:r>
                  <a:rPr lang="en-US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Text Classification</a:t>
                </a:r>
              </a:p>
              <a:p>
                <a:pPr marL="415647" indent="-182880">
                  <a:buSzPct val="100000"/>
                  <a:buChar char="•"/>
                </a:pPr>
                <a:endParaRPr lang="en-US" sz="800" dirty="0"/>
              </a:p>
              <a:p>
                <a:pPr marL="415647" indent="-182880">
                  <a:buSzPct val="100000"/>
                  <a:buChar char="•"/>
                </a:pPr>
                <a:r>
                  <a:rPr lang="en-US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Train/Test Evaluation</a:t>
                </a:r>
              </a:p>
              <a:p>
                <a:pPr marL="415647" indent="-182880">
                  <a:buSzPct val="100000"/>
                  <a:buChar char="•"/>
                </a:pPr>
                <a:endParaRPr lang="en-US" sz="800" dirty="0"/>
              </a:p>
              <a:p>
                <a:pPr marL="415647" indent="-182880">
                  <a:buSzPct val="100000"/>
                  <a:buChar char="•"/>
                </a:pPr>
                <a:r>
                  <a:rPr lang="en-US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Preprocessing Pipelines</a:t>
                </a:r>
              </a:p>
              <a:p>
                <a:pPr marL="415647" indent="-182880">
                  <a:buSzPct val="100000"/>
                  <a:buChar char="•"/>
                </a:pPr>
                <a:endParaRPr lang="en-US" sz="600" dirty="0"/>
              </a:p>
              <a:p>
                <a:pPr marL="415647" indent="-182880">
                  <a:buSzPct val="100000"/>
                  <a:buChar char="•"/>
                </a:pPr>
                <a:r>
                  <a:rPr lang="en-US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Bias &amp; Ethics Awareness</a:t>
                </a:r>
                <a:endParaRPr lang="en-US" dirty="0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FC94391-F53D-9269-B868-9CFA03AB4460}"/>
              </a:ext>
            </a:extLst>
          </p:cNvPr>
          <p:cNvGrpSpPr/>
          <p:nvPr/>
        </p:nvGrpSpPr>
        <p:grpSpPr>
          <a:xfrm>
            <a:off x="735645" y="4391628"/>
            <a:ext cx="3309883" cy="2009250"/>
            <a:chOff x="831273" y="4357255"/>
            <a:chExt cx="3214255" cy="1241367"/>
          </a:xfrm>
        </p:grpSpPr>
        <p:sp>
          <p:nvSpPr>
            <p:cNvPr id="17" name="Text 15"/>
            <p:cNvSpPr/>
            <p:nvPr/>
          </p:nvSpPr>
          <p:spPr>
            <a:xfrm>
              <a:off x="831273" y="4357255"/>
              <a:ext cx="1219200" cy="310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Python</a:t>
              </a:r>
              <a:endParaRPr lang="en-US" sz="16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1939637" y="4423757"/>
              <a:ext cx="2105891" cy="155171"/>
            </a:xfrm>
            <a:prstGeom prst="rect">
              <a:avLst/>
            </a:prstGeom>
            <a:solidFill>
              <a:srgbClr val="D0E8EC"/>
            </a:solidFill>
            <a:ln w="12700">
              <a:solidFill>
                <a:srgbClr val="D0E8E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" name="Shape 17"/>
            <p:cNvSpPr/>
            <p:nvPr/>
          </p:nvSpPr>
          <p:spPr>
            <a:xfrm>
              <a:off x="1939636" y="4423757"/>
              <a:ext cx="1895302" cy="15517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 sz="16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831273" y="4822768"/>
              <a:ext cx="1219200" cy="310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Pandas</a:t>
              </a:r>
              <a:endParaRPr lang="en-US" sz="16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939637" y="4889269"/>
              <a:ext cx="2105891" cy="155171"/>
            </a:xfrm>
            <a:prstGeom prst="rect">
              <a:avLst/>
            </a:prstGeom>
            <a:solidFill>
              <a:srgbClr val="D0E8EC"/>
            </a:solidFill>
            <a:ln w="12700">
              <a:solidFill>
                <a:srgbClr val="D0E8E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Shape 26"/>
            <p:cNvSpPr/>
            <p:nvPr/>
          </p:nvSpPr>
          <p:spPr>
            <a:xfrm>
              <a:off x="1939637" y="4889269"/>
              <a:ext cx="1790007" cy="15517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" name="Text 33"/>
            <p:cNvSpPr/>
            <p:nvPr/>
          </p:nvSpPr>
          <p:spPr>
            <a:xfrm>
              <a:off x="831273" y="5288280"/>
              <a:ext cx="1219200" cy="310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TextBlob</a:t>
              </a:r>
              <a:endParaRPr lang="en-US" sz="16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1939637" y="5354782"/>
              <a:ext cx="2105891" cy="155171"/>
            </a:xfrm>
            <a:prstGeom prst="rect">
              <a:avLst/>
            </a:prstGeom>
            <a:solidFill>
              <a:srgbClr val="D0E8EC"/>
            </a:solidFill>
            <a:ln w="12700">
              <a:solidFill>
                <a:srgbClr val="D0E8E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7" name="Shape 35"/>
            <p:cNvSpPr/>
            <p:nvPr/>
          </p:nvSpPr>
          <p:spPr>
            <a:xfrm>
              <a:off x="1939637" y="5354782"/>
              <a:ext cx="1579418" cy="15517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B41179F-3BCB-7FD8-A68E-690A51F98819}"/>
              </a:ext>
            </a:extLst>
          </p:cNvPr>
          <p:cNvGrpSpPr/>
          <p:nvPr/>
        </p:nvGrpSpPr>
        <p:grpSpPr>
          <a:xfrm>
            <a:off x="4396392" y="4384762"/>
            <a:ext cx="3388158" cy="2009250"/>
            <a:chOff x="4400203" y="4357255"/>
            <a:chExt cx="3214255" cy="1241367"/>
          </a:xfrm>
        </p:grpSpPr>
        <p:sp>
          <p:nvSpPr>
            <p:cNvPr id="20" name="Text 18"/>
            <p:cNvSpPr/>
            <p:nvPr/>
          </p:nvSpPr>
          <p:spPr>
            <a:xfrm>
              <a:off x="4400203" y="4357255"/>
              <a:ext cx="1219200" cy="310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NLTK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508567" y="4423757"/>
              <a:ext cx="2105891" cy="155171"/>
            </a:xfrm>
            <a:prstGeom prst="rect">
              <a:avLst/>
            </a:prstGeom>
            <a:solidFill>
              <a:srgbClr val="D0E8EC"/>
            </a:solidFill>
            <a:ln w="12700">
              <a:solidFill>
                <a:srgbClr val="D0E8E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2" name="Shape 20"/>
            <p:cNvSpPr/>
            <p:nvPr/>
          </p:nvSpPr>
          <p:spPr>
            <a:xfrm>
              <a:off x="5508568" y="4423757"/>
              <a:ext cx="1790007" cy="15517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9" name="Text 27"/>
            <p:cNvSpPr/>
            <p:nvPr/>
          </p:nvSpPr>
          <p:spPr>
            <a:xfrm>
              <a:off x="4400203" y="4822768"/>
              <a:ext cx="1219200" cy="310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Scikit-Learn</a:t>
              </a:r>
              <a:endParaRPr lang="en-US" sz="16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508567" y="4889269"/>
              <a:ext cx="2105891" cy="155171"/>
            </a:xfrm>
            <a:prstGeom prst="rect">
              <a:avLst/>
            </a:prstGeom>
            <a:solidFill>
              <a:srgbClr val="D0E8EC"/>
            </a:solidFill>
            <a:ln w="12700">
              <a:solidFill>
                <a:srgbClr val="D0E8E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1" name="Shape 29"/>
            <p:cNvSpPr/>
            <p:nvPr/>
          </p:nvSpPr>
          <p:spPr>
            <a:xfrm>
              <a:off x="5508568" y="4889269"/>
              <a:ext cx="1579418" cy="15517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Text 36"/>
            <p:cNvSpPr/>
            <p:nvPr/>
          </p:nvSpPr>
          <p:spPr>
            <a:xfrm>
              <a:off x="4400203" y="5288280"/>
              <a:ext cx="1219200" cy="310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Seaborn</a:t>
              </a:r>
              <a:endParaRPr lang="en-US" sz="16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5508567" y="5354782"/>
              <a:ext cx="2105891" cy="155171"/>
            </a:xfrm>
            <a:prstGeom prst="rect">
              <a:avLst/>
            </a:prstGeom>
            <a:solidFill>
              <a:srgbClr val="D0E8EC"/>
            </a:solidFill>
            <a:ln w="12700">
              <a:solidFill>
                <a:srgbClr val="D0E8E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0" name="Shape 38"/>
            <p:cNvSpPr/>
            <p:nvPr/>
          </p:nvSpPr>
          <p:spPr>
            <a:xfrm>
              <a:off x="5508568" y="5354782"/>
              <a:ext cx="1474123" cy="15517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387C747-B0E7-1D0A-652E-41F4A198F36E}"/>
              </a:ext>
            </a:extLst>
          </p:cNvPr>
          <p:cNvGrpSpPr/>
          <p:nvPr/>
        </p:nvGrpSpPr>
        <p:grpSpPr>
          <a:xfrm>
            <a:off x="8146474" y="4364794"/>
            <a:ext cx="3309882" cy="2009250"/>
            <a:chOff x="7969135" y="4357255"/>
            <a:chExt cx="3214254" cy="1241367"/>
          </a:xfrm>
        </p:grpSpPr>
        <p:sp>
          <p:nvSpPr>
            <p:cNvPr id="23" name="Text 21"/>
            <p:cNvSpPr/>
            <p:nvPr/>
          </p:nvSpPr>
          <p:spPr>
            <a:xfrm>
              <a:off x="7969135" y="4357255"/>
              <a:ext cx="1219200" cy="310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spaCy</a:t>
              </a:r>
              <a:endParaRPr lang="en-US" sz="16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9077498" y="4423757"/>
              <a:ext cx="2105891" cy="155171"/>
            </a:xfrm>
            <a:prstGeom prst="rect">
              <a:avLst/>
            </a:prstGeom>
            <a:solidFill>
              <a:srgbClr val="D0E8EC"/>
            </a:solidFill>
            <a:ln w="12700">
              <a:solidFill>
                <a:srgbClr val="D0E8E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5" name="Shape 23"/>
            <p:cNvSpPr/>
            <p:nvPr/>
          </p:nvSpPr>
          <p:spPr>
            <a:xfrm>
              <a:off x="9077498" y="4423757"/>
              <a:ext cx="1684713" cy="15517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Text 30"/>
            <p:cNvSpPr/>
            <p:nvPr/>
          </p:nvSpPr>
          <p:spPr>
            <a:xfrm>
              <a:off x="7969135" y="4822768"/>
              <a:ext cx="1219200" cy="310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VADER</a:t>
              </a:r>
              <a:endParaRPr lang="en-US" sz="16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9077498" y="4889269"/>
              <a:ext cx="2105891" cy="155171"/>
            </a:xfrm>
            <a:prstGeom prst="rect">
              <a:avLst/>
            </a:prstGeom>
            <a:solidFill>
              <a:srgbClr val="D0E8EC"/>
            </a:solidFill>
            <a:ln w="12700">
              <a:solidFill>
                <a:srgbClr val="D0E8E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4" name="Shape 32"/>
            <p:cNvSpPr/>
            <p:nvPr/>
          </p:nvSpPr>
          <p:spPr>
            <a:xfrm>
              <a:off x="9077498" y="4889269"/>
              <a:ext cx="1684713" cy="15517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Text 39"/>
            <p:cNvSpPr/>
            <p:nvPr/>
          </p:nvSpPr>
          <p:spPr>
            <a:xfrm>
              <a:off x="7969135" y="5288280"/>
              <a:ext cx="1219200" cy="310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Jupyter</a:t>
              </a:r>
              <a:endParaRPr lang="en-US" sz="16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9077498" y="5354782"/>
              <a:ext cx="2105891" cy="155171"/>
            </a:xfrm>
            <a:prstGeom prst="rect">
              <a:avLst/>
            </a:prstGeom>
            <a:solidFill>
              <a:srgbClr val="D0E8EC"/>
            </a:solidFill>
            <a:ln w="12700">
              <a:solidFill>
                <a:srgbClr val="D0E8E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3" name="Shape 41"/>
            <p:cNvSpPr/>
            <p:nvPr/>
          </p:nvSpPr>
          <p:spPr>
            <a:xfrm>
              <a:off x="9077498" y="5354782"/>
              <a:ext cx="1895302" cy="15517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D0023B8-EF59-CF91-629F-1C82E2FA450A}"/>
              </a:ext>
            </a:extLst>
          </p:cNvPr>
          <p:cNvGrpSpPr/>
          <p:nvPr/>
        </p:nvGrpSpPr>
        <p:grpSpPr>
          <a:xfrm>
            <a:off x="6531416" y="269770"/>
            <a:ext cx="5069339" cy="656313"/>
            <a:chOff x="6497631" y="389869"/>
            <a:chExt cx="5108075" cy="681477"/>
          </a:xfrm>
        </p:grpSpPr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C7594D0B-7BB0-CDF4-DE82-DF51B1EF1C62}"/>
                </a:ext>
              </a:extLst>
            </p:cNvPr>
            <p:cNvSpPr/>
            <p:nvPr/>
          </p:nvSpPr>
          <p:spPr>
            <a:xfrm>
              <a:off x="6497631" y="787362"/>
              <a:ext cx="4448052" cy="274320"/>
            </a:xfrm>
            <a:prstGeom prst="rect">
              <a:avLst/>
            </a:prstGeom>
            <a:solidFill>
              <a:srgbClr val="054952"/>
            </a:solidFill>
            <a:ln w="12700">
              <a:solidFill>
                <a:srgbClr val="02809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</a:t>
              </a:r>
              <a:r>
                <a:rPr lang="en-US" sz="1600" b="1" u="sng" dirty="0" err="1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github.com</a:t>
              </a:r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/</a:t>
              </a:r>
              <a:r>
                <a:rPr lang="en-US" sz="1600" b="1" u="sng" dirty="0" err="1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Nichelleg</a:t>
              </a:r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/</a:t>
              </a:r>
              <a:r>
                <a:rPr lang="en-US" sz="14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AI-Portfolio-Nichelle-Graf</a:t>
              </a:r>
              <a:endParaRPr lang="en-US" sz="1600" dirty="0">
                <a:solidFill>
                  <a:srgbClr val="D1FAF1"/>
                </a:solidFill>
                <a:latin typeface="Josefin Sans Light" panose="00000400000000000000" pitchFamily="2" charset="0"/>
              </a:endParaRP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FDBFC98-CA07-51FD-DDFF-A1143F4A0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60736" y="389869"/>
              <a:ext cx="644970" cy="681477"/>
            </a:xfrm>
            <a:prstGeom prst="rect">
              <a:avLst/>
            </a:prstGeom>
          </p:spPr>
        </p:pic>
      </p:grpSp>
      <p:sp>
        <p:nvSpPr>
          <p:cNvPr id="16" name="Text 14"/>
          <p:cNvSpPr/>
          <p:nvPr/>
        </p:nvSpPr>
        <p:spPr>
          <a:xfrm>
            <a:off x="591247" y="3845159"/>
            <a:ext cx="11009508" cy="366183"/>
          </a:xfrm>
          <a:prstGeom prst="rect">
            <a:avLst/>
          </a:prstGeom>
          <a:solidFill>
            <a:srgbClr val="009999">
              <a:alpha val="40000"/>
            </a:srgbClr>
          </a:solidFill>
          <a:ln/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0" rtlCol="0" anchor="ctr"/>
          <a:lstStyle/>
          <a:p>
            <a:r>
              <a:rPr lang="en-US" b="1" kern="0" spc="364" dirty="0">
                <a:latin typeface="Josefin Sans" panose="00000500000000000000" pitchFamily="2" charset="0"/>
                <a:ea typeface="Calibri" pitchFamily="34" charset="-122"/>
                <a:cs typeface="Calibri" pitchFamily="34" charset="-120"/>
              </a:rPr>
              <a:t>  TOOLS &amp; LIBRARIES USED THIS SEMESTER</a:t>
            </a:r>
            <a:endParaRPr lang="en-US" dirty="0">
              <a:latin typeface="Josefin Sans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95457" y="2584919"/>
            <a:ext cx="4433455" cy="4433455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3" name="Shape 1"/>
          <p:cNvSpPr/>
          <p:nvPr/>
        </p:nvSpPr>
        <p:spPr>
          <a:xfrm>
            <a:off x="10000268" y="-199380"/>
            <a:ext cx="3528644" cy="3581819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4" name="Shape 2"/>
          <p:cNvSpPr/>
          <p:nvPr/>
        </p:nvSpPr>
        <p:spPr>
          <a:xfrm>
            <a:off x="134170" y="278477"/>
            <a:ext cx="6183503" cy="1052945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5" name="Text 3"/>
          <p:cNvSpPr/>
          <p:nvPr/>
        </p:nvSpPr>
        <p:spPr>
          <a:xfrm>
            <a:off x="591244" y="180390"/>
            <a:ext cx="7707108" cy="1052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CCF3EB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Reflection </a:t>
            </a:r>
            <a:r>
              <a:rPr lang="en-US" sz="3600" dirty="0">
                <a:solidFill>
                  <a:srgbClr val="CCF3EB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&amp;</a:t>
            </a:r>
            <a:r>
              <a:rPr lang="en-US" sz="4400" b="1" dirty="0">
                <a:solidFill>
                  <a:srgbClr val="CCF3EB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 Next Steps</a:t>
            </a:r>
            <a:endParaRPr lang="en-US" sz="4400" dirty="0">
              <a:solidFill>
                <a:srgbClr val="CCF3EB"/>
              </a:solidFill>
              <a:latin typeface="Josefin Sans" panose="000005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0435" y="1233335"/>
            <a:ext cx="5294376" cy="4611766"/>
          </a:xfrm>
          <a:prstGeom prst="rect">
            <a:avLst/>
          </a:prstGeom>
          <a:solidFill>
            <a:srgbClr val="0D2035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7" name="Shape 5"/>
          <p:cNvSpPr/>
          <p:nvPr/>
        </p:nvSpPr>
        <p:spPr>
          <a:xfrm>
            <a:off x="598137" y="1213129"/>
            <a:ext cx="5294376" cy="4433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8" name="Text 6"/>
          <p:cNvSpPr/>
          <p:nvPr/>
        </p:nvSpPr>
        <p:spPr>
          <a:xfrm>
            <a:off x="839817" y="1433966"/>
            <a:ext cx="4655127" cy="332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kern="0" spc="364" dirty="0">
                <a:solidFill>
                  <a:srgbClr val="02C39A"/>
                </a:solidFill>
                <a:latin typeface="Josefin Sans" panose="00000500000000000000" pitchFamily="2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400" dirty="0">
              <a:latin typeface="Josefin Sans" panose="000005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3567" y="1871562"/>
            <a:ext cx="4655127" cy="381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decisions are as critical as model choice — the same technique can help or hurt depending on context.
</a:t>
            </a:r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 changed how I think about meaning: semantic relationships are directions in vector space, not labels.
</a:t>
            </a:r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NLP pipeline involves trade-offs between speed, accuracy, and information loss — there is no universal solution.
</a:t>
            </a:r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isn't a footnote — bias encoded in training data becomes bias encoded in decisions.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10798" y="1233335"/>
            <a:ext cx="5294519" cy="4611767"/>
          </a:xfrm>
          <a:prstGeom prst="rect">
            <a:avLst/>
          </a:prstGeom>
          <a:solidFill>
            <a:srgbClr val="0D2035"/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11" name="Shape 9"/>
          <p:cNvSpPr/>
          <p:nvPr/>
        </p:nvSpPr>
        <p:spPr>
          <a:xfrm>
            <a:off x="6310797" y="1221545"/>
            <a:ext cx="5294376" cy="44335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12" name="Text 10"/>
          <p:cNvSpPr/>
          <p:nvPr/>
        </p:nvSpPr>
        <p:spPr>
          <a:xfrm>
            <a:off x="6518303" y="1447717"/>
            <a:ext cx="4655127" cy="332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kern="0" spc="364" dirty="0">
                <a:solidFill>
                  <a:srgbClr val="02C39A"/>
                </a:solidFill>
                <a:latin typeface="Josefin Sans" panose="00000500000000000000" pitchFamily="2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400" dirty="0">
              <a:latin typeface="Josefin Sans" panose="000005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25178" y="1889305"/>
            <a:ext cx="4928885" cy="305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transformer architectures (BERT, GPT) and fine-tuning for domain-specific NLP tasks.</a:t>
            </a:r>
          </a:p>
          <a:p>
            <a:r>
              <a:rPr lang="en-US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NewsBot 2.0 with live news APIs for real-time querying and summarization.
</a:t>
            </a:r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NLP skills to cybersecurity use cases —                 log analysis, threat intelligence extraction.
</a:t>
            </a:r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annotated Jupyter notebooks to GitHub as a public learning resource for other students.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1AA98E-4680-7E4B-B5EC-881E7948025F}"/>
              </a:ext>
            </a:extLst>
          </p:cNvPr>
          <p:cNvGrpSpPr/>
          <p:nvPr/>
        </p:nvGrpSpPr>
        <p:grpSpPr>
          <a:xfrm>
            <a:off x="3568210" y="5933553"/>
            <a:ext cx="5069339" cy="656313"/>
            <a:chOff x="6497631" y="389869"/>
            <a:chExt cx="5108075" cy="681477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0AB1521B-AC3B-973A-FFBE-8C9E261AFE6E}"/>
                </a:ext>
              </a:extLst>
            </p:cNvPr>
            <p:cNvSpPr/>
            <p:nvPr/>
          </p:nvSpPr>
          <p:spPr>
            <a:xfrm>
              <a:off x="6497631" y="787362"/>
              <a:ext cx="4448052" cy="274320"/>
            </a:xfrm>
            <a:prstGeom prst="rect">
              <a:avLst/>
            </a:prstGeom>
            <a:solidFill>
              <a:srgbClr val="054952"/>
            </a:solidFill>
            <a:ln w="12700">
              <a:solidFill>
                <a:srgbClr val="02809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</a:t>
              </a:r>
              <a:r>
                <a:rPr lang="en-US" sz="1600" b="1" u="sng" dirty="0" err="1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github.com</a:t>
              </a:r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/</a:t>
              </a:r>
              <a:r>
                <a:rPr lang="en-US" sz="1600" b="1" u="sng" dirty="0" err="1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Nichelleg</a:t>
              </a:r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/</a:t>
              </a:r>
              <a:r>
                <a:rPr lang="en-US" sz="14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AI-Portfolio-Nichelle-Graf</a:t>
              </a:r>
              <a:endParaRPr lang="en-US" sz="1600" dirty="0">
                <a:solidFill>
                  <a:srgbClr val="D1FAF1"/>
                </a:solidFill>
                <a:latin typeface="Josefin Sans Light" panose="00000400000000000000" pitchFamily="2" charset="0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83F5270-AA85-83CD-6CC8-809CD41C4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60736" y="389869"/>
              <a:ext cx="644970" cy="6814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560</TotalTime>
  <Words>489</Words>
  <Application>Microsoft Office PowerPoint</Application>
  <PresentationFormat>Widescreen</PresentationFormat>
  <Paragraphs>86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Josefin Sans</vt:lpstr>
      <vt:lpstr>Josefin Sans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Course Portfolio – ITAI 2373</dc:title>
  <dc:subject>PptxGenJS Presentation</dc:subject>
  <dc:creator>Nichelle Graf</dc:creator>
  <cp:lastModifiedBy>nichelle.graf-W216404549</cp:lastModifiedBy>
  <cp:revision>3</cp:revision>
  <dcterms:created xsi:type="dcterms:W3CDTF">2026-05-04T22:41:25Z</dcterms:created>
  <dcterms:modified xsi:type="dcterms:W3CDTF">2026-05-05T21:30:02Z</dcterms:modified>
</cp:coreProperties>
</file>